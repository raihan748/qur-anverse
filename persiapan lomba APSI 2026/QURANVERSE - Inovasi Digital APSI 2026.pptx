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1761678"/>
            <a:ext cx="4953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4353222"/>
            <a:ext cx="4667250" cy="742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4353222"/>
            <a:ext cx="4667250" cy="742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3500" y="2237928"/>
            <a:ext cx="9525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10B981"/>
                </a:solidFill>
                <a:latin typeface="Amiri"/>
              </a:rPr>
              <a:t>بِسْمِ اللَّهِ الرَّحْمَٰنِ الرَّحِيمِ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2780853"/>
            <a:ext cx="10001250" cy="6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0" sz="4200" i="0" u="none">
                <a:solidFill>
                  <a:srgbClr val="F8FAFC"/>
                </a:solidFill>
                <a:latin typeface="Plus Jakarta Sans ExtraBold"/>
              </a:rPr>
              <a:t>QURANVERSE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565624"/>
            <a:ext cx="952500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76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Platform Cerdas Al-Qur'an Terintegrasi AI Acoustic Phonetic Alignment, Ensiklopedia Tajwid Digital 604 Halaman, dan Sistem Kriptografi Quran Vault Anti-Deface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0475" y="1847403"/>
            <a:ext cx="109537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3525" y="4515147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4515147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4012" y="4629447"/>
            <a:ext cx="2381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05025" y="4567535"/>
            <a:ext cx="2105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 SemiBold"/>
              </a:rPr>
              <a:t>TIM PENGEMBANG (SMP)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5025" y="4710410"/>
            <a:ext cx="2105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Raihan M. Ikhsan &amp; Andi Azman 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1762" y="4629447"/>
            <a:ext cx="2381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62775" y="4567535"/>
            <a:ext cx="18288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 SemiBold"/>
              </a:rPr>
              <a:t>GURU PEMBIMBING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4710410"/>
            <a:ext cx="1828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Ustadz Hasballah • Al-Fityan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14562"/>
            <a:ext cx="5343525" cy="3105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14562"/>
            <a:ext cx="5343525" cy="3105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90625" y="2490787"/>
            <a:ext cx="468058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F87171"/>
                </a:solidFill>
                <a:latin typeface="Plus Jakarta Sans"/>
              </a:rPr>
              <a:t>Kendala Kritis Saat 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2871787"/>
            <a:ext cx="4762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Ketiadaan Real-Time Feedback: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Belajar mandiri sering kali membuat kekeliruan </a:t>
            </a:r>
            <a:r>
              <a:rPr b="0" sz="1200" i="1" u="none">
                <a:solidFill>
                  <a:srgbClr val="94A3B8"/>
                </a:solidFill>
                <a:latin typeface="Plus Jakarta Sans"/>
              </a:rPr>
              <a:t>makharijul huruf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&amp; tajwid tidak terdeteksi saat tidak didampingi guru.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71887"/>
            <a:ext cx="4762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Tata Letak Kurang Autentik: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Aplikasi Al-Qur'an umum tidak merefleksikan standar tata letak fisik Mushaf Madinah 604 halaman asli.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471987"/>
            <a:ext cx="476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Kerentanan Manipulasi Data: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Risiko </a:t>
            </a:r>
            <a:r>
              <a:rPr b="0" sz="1200" i="1" u="none">
                <a:solidFill>
                  <a:srgbClr val="94A3B8"/>
                </a:solidFill>
                <a:latin typeface="Plus Jakarta Sans"/>
              </a:rPr>
              <a:t>defacement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dan modifikasi ilegal ayat Al-Qur'an digital tanpa proteksi kriptografis.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7050" y="2490787"/>
            <a:ext cx="468058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34D399"/>
                </a:solidFill>
                <a:latin typeface="Plus Jakarta Sans"/>
              </a:rPr>
              <a:t>Solusi Terobosan QURANVERSE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2871787"/>
            <a:ext cx="476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AI Acoustic Alignment: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Evaluasi presisi per kata, skor akurasi fonetik, dan audio bimbingan maqam secara langsung.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3443287"/>
            <a:ext cx="476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Smart Mushaf 604 Halaman: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45+ kaidah tajwid beranotasi warna, multi-qari internasional, dan jadwal adzan berakurasi tinggi.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4014787"/>
            <a:ext cx="476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Quran Vault Engine: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Proteksi kriptografi SHA-256 Merkle Root &amp; DOM Sentinel dengan pemulihan otomatis </a:t>
            </a:r>
            <a:r>
              <a:rPr b="0" sz="1200" i="1" u="none">
                <a:solidFill>
                  <a:srgbClr val="94A3B8"/>
                </a:solidFill>
                <a:latin typeface="Plus Jakarta Sans"/>
              </a:rPr>
              <a:t>(Self-Healing)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519362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2519362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Latar Belakang Masalah vs Solusi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57462"/>
            <a:ext cx="3524250" cy="2419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57462"/>
            <a:ext cx="3524250" cy="2419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557462"/>
            <a:ext cx="3524250" cy="2419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814637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3481387"/>
            <a:ext cx="15601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8FAFC"/>
                </a:solidFill>
                <a:latin typeface="Plus Jakarta Sans"/>
              </a:rPr>
              <a:t>AI Tilawah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805237"/>
            <a:ext cx="30099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Memanfaatkan algoritma Speech Recognition &amp; Phonetic Alignment untuk menganalisis pelafalan suara santri secara real-time, memberikan skor akurasi dan koreksi maqam.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2814637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1050" y="3481387"/>
            <a:ext cx="19702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8FAFC"/>
                </a:solidFill>
                <a:latin typeface="Plus Jakarta Sans"/>
              </a:rPr>
              <a:t>Smart Mushaf Reader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050" y="3805237"/>
            <a:ext cx="30099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Mereplikasi tata letak Mushaf Madinah asli 604 halaman dengan anotasi 45+ kaidah tajwid berwarna, audio multi-qari dunia, serta notifikasi adzan presisi.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814637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481387"/>
            <a:ext cx="1720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8FAFC"/>
                </a:solidFill>
                <a:latin typeface="Plus Jakarta Sans"/>
              </a:rPr>
              <a:t>Quran Vault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05237"/>
            <a:ext cx="30099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Sistem integritas data kriptografi SHA-256 Merkle Root &amp; DOM Sentinel yang mengunci 6.236 ayat serta memulihkan data instan dari modifikasi ilegal.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947987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8687" y="2947987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0" y="2947987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Tiga Modul Utama QURANVERSE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590698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AI Acoustic Phonetic Alignment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833687"/>
            <a:ext cx="55906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4D399"/>
                </a:solidFill>
                <a:latin typeface="Plus Jakarta Sans"/>
              </a:rPr>
              <a:t>Deteksi Presisi Makhraj &amp; Tajwid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252787"/>
            <a:ext cx="53244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Modul AI mengonversi sinyal audio tilawah menjadi spektrogram frekuensi untuk memvalidasi panjang mad, ghunnah, dan artikulasi makhraj per kata.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824287"/>
            <a:ext cx="53244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Sistem langsung memberikan indikator visual interaktif dan rekomendasi audio bimbingan, memungkinkan santri belajar mandiri dengan standar talaqqi yang akurat.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590698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Quran Vault Engine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947987"/>
            <a:ext cx="55906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4D399"/>
                </a:solidFill>
                <a:latin typeface="Plus Jakarta Sans"/>
              </a:rPr>
              <a:t>Keamanan Data Kriptografi Mutlak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367087"/>
            <a:ext cx="53244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Mengamankan 6.236 ayat suci melalui struktur Merkle Tree SHA-256 dan DOM Mutation Sentinel secara aktif di sisi peramban.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938587"/>
            <a:ext cx="53244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Jika terdeteksi injeksi skrip atau modifikasi ilegal, sistem </a:t>
            </a:r>
            <a:r>
              <a:rPr b="0" sz="1125" i="1" u="none">
                <a:solidFill>
                  <a:srgbClr val="CBD5E1"/>
                </a:solidFill>
                <a:latin typeface="Plus Jakarta Sans"/>
              </a:rPr>
              <a:t>Deep Immutability Lock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mengeksekusi pemulihan mandiri </a:t>
            </a:r>
            <a:r>
              <a:rPr b="0" sz="1125" i="1" u="none">
                <a:solidFill>
                  <a:srgbClr val="CBD5E1"/>
                </a:solidFill>
                <a:latin typeface="Plus Jakarta Sans"/>
              </a:rPr>
              <a:t>(self-healing)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seketika tanpa jeda.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62625" y="2628007"/>
            <a:ext cx="666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55632" y="2894707"/>
            <a:ext cx="5880735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0" sz="3450" i="0" u="none">
                <a:solidFill>
                  <a:srgbClr val="F8FAFC"/>
                </a:solidFill>
                <a:latin typeface="Plus Jakarta Sans ExtraBold"/>
              </a:rPr>
              <a:t>Harmonisasi 5 Pilar STEAM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572767"/>
            <a:ext cx="7143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94A3B8"/>
                </a:solidFill>
                <a:latin typeface="Plus Jakarta Sans"/>
              </a:rPr>
              <a:t>Pendekatan holistik yang menggabungkan sains fonetika, rekayasa perangkat lunak modern, estetika mushaf, dan komputasi matematika.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57475"/>
            <a:ext cx="3524250" cy="2219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57475"/>
            <a:ext cx="3524250" cy="2219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657475"/>
            <a:ext cx="3524250" cy="2219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914650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3581400"/>
            <a:ext cx="76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8BDF8"/>
                </a:solidFill>
                <a:latin typeface="Plus Jakarta Sans"/>
              </a:rPr>
              <a:t>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905250"/>
            <a:ext cx="30099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Plus Jakarta Sans"/>
              </a:rPr>
              <a:t>Bioakustik &amp; Fonetika: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Kajian spektrum frekuensi artikulasi bunyi huruf hijaiyah serta resonansi vokal pada kaidah makhraj tajwid.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2914650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1050" y="3581400"/>
            <a:ext cx="107013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4D399"/>
                </a:solidFill>
                <a:latin typeface="Plus Jakarta Sans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050" y="3905250"/>
            <a:ext cx="30099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Plus Jakarta Sans"/>
              </a:rPr>
              <a:t>PWA &amp; Web Audio API: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Platform berbasis web progresif yang mendukung operasi </a:t>
            </a:r>
            <a:r>
              <a:rPr b="0" sz="1050" i="1" u="none">
                <a:solidFill>
                  <a:srgbClr val="94A3B8"/>
                </a:solidFill>
                <a:latin typeface="Plus Jakarta Sans"/>
              </a:rPr>
              <a:t>offline-first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serta pemrosesan audio berlatensi rendah.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914650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581400"/>
            <a:ext cx="1090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BBF24"/>
                </a:solidFill>
                <a:latin typeface="Plus Jakarta Sans"/>
              </a:rPr>
              <a:t>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905250"/>
            <a:ext cx="30099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Plus Jakarta Sans"/>
              </a:rPr>
              <a:t>Self-Healing Architecture: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Rekayasa sistem pemulihan data instan yang mengembalikan keaslian teks mushaf saat terjadi anomali.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3048000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5825" y="3048000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8675" y="3048000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STEAM: Science, Tech &amp;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00312"/>
            <a:ext cx="5343525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500312"/>
            <a:ext cx="5343525" cy="2533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50" y="2776537"/>
            <a:ext cx="4710588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C084FC"/>
                </a:solidFill>
                <a:latin typeface="Plus Jakarta Sans"/>
              </a:rPr>
              <a:t>Art (Seni &amp; Desain)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157537"/>
            <a:ext cx="47910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Tipografi &amp; Tata Letak Rasm Utsmani: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Menghadirkan keindahan kaligrafi Rasm Utsmani standar Madinah dengan pembagian 15 baris per halaman yang presisi.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57637"/>
            <a:ext cx="47910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Estetika Neobrutalisme Islami: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Desain antarmuka modern bernuansa zamrud dan emas yang intuitif, ramah pengguna, dan nyaman bagi mata santri.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7050" y="2776537"/>
            <a:ext cx="468058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F43F5E"/>
                </a:solidFill>
                <a:latin typeface="Plus Jakarta Sans"/>
              </a:rPr>
              <a:t>Mathematics (Matematika)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3157537"/>
            <a:ext cx="47910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Kriptografi Hashing SHA-256: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Penerapan struktur pohon data Merkle Root untuk menjamin integritas kriptografis pada setiap baris ayat.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957637"/>
            <a:ext cx="47910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94A3B8"/>
                </a:solidFill>
                <a:latin typeface="Plus Jakarta Sans"/>
              </a:rPr>
              <a:t>Trigonometri Sferis Astronomi:</a:t>
            </a:r>
            <a:r>
              <a:rPr b="0" sz="1200" i="0" u="none">
                <a:solidFill>
                  <a:srgbClr val="94A3B8"/>
                </a:solidFill>
                <a:latin typeface="Plus Jakarta Sans"/>
              </a:rPr>
              <a:t> Formula kalkulasi sudut deklinasi dan elevasi matahari untuk penentuan waktu shalat akurat sesuai standar MABIMS.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05112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2805112"/>
            <a:ext cx="2381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STEAM: Art &amp; Mathematics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574131"/>
          <a:ext cx="11029948" cy="2386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65859"/>
                <a:gridCol w="3053655"/>
                <a:gridCol w="2161877"/>
                <a:gridCol w="2748557"/>
              </a:tblGrid>
              <a:tr h="47720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Fitur / Parameter Evaluasi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Aplikasi Quran Konvensional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Web Mushaf Statis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QURANVERSE Platform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720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Evaluasi AI Suara Real-Time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Tidak Ada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Tidak Ada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Tersedia (Acoustic AI)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720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Layout Presisi 604 Halaman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Sebagian (Vertikal)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Format Teks Biasa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Autentik Mushaf Madinah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720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Proteksi Kriptografi Anti-Deface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Tidak Terlindungi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Rentan Modifikasi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SHA-256 &amp; Self Healing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720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Akses Offline (PWA Ready)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Terbatas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Wajib Online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Full Offline-First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3050381"/>
            <a:ext cx="306585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46884" y="3050381"/>
            <a:ext cx="30536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00539" y="3050381"/>
            <a:ext cx="216187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2417" y="3050381"/>
            <a:ext cx="274855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526631"/>
            <a:ext cx="306585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46884" y="3526631"/>
            <a:ext cx="30536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00539" y="3526631"/>
            <a:ext cx="216187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2417" y="3526631"/>
            <a:ext cx="274855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4002881"/>
            <a:ext cx="306585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46884" y="4002881"/>
            <a:ext cx="30536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00539" y="4002881"/>
            <a:ext cx="216187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2417" y="4002881"/>
            <a:ext cx="274855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4479131"/>
            <a:ext cx="306585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46884" y="4479131"/>
            <a:ext cx="30536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00539" y="4479131"/>
            <a:ext cx="216187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2417" y="4479131"/>
            <a:ext cx="274855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39" y="4188618"/>
            <a:ext cx="104775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917" y="4188618"/>
            <a:ext cx="1143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384" y="3712368"/>
            <a:ext cx="123825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384" y="3236118"/>
            <a:ext cx="104775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917" y="3712368"/>
            <a:ext cx="11430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39" y="3712368"/>
            <a:ext cx="104775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384" y="4664868"/>
            <a:ext cx="123825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917" y="3236118"/>
            <a:ext cx="1143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917" y="4664868"/>
            <a:ext cx="114300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384" y="4188618"/>
            <a:ext cx="10477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39" y="3236118"/>
            <a:ext cx="104775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39" y="4664868"/>
            <a:ext cx="104775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384" y="3236118"/>
            <a:ext cx="10477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39" y="3236118"/>
            <a:ext cx="10477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917" y="3236118"/>
            <a:ext cx="11430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384" y="3712368"/>
            <a:ext cx="12382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39" y="3712368"/>
            <a:ext cx="10477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917" y="3712368"/>
            <a:ext cx="11430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384" y="4188618"/>
            <a:ext cx="104775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39" y="4188618"/>
            <a:ext cx="104775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917" y="4188618"/>
            <a:ext cx="114300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384" y="4664868"/>
            <a:ext cx="123825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39" y="4664868"/>
            <a:ext cx="104775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917" y="4664868"/>
            <a:ext cx="114300" cy="1333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Matriks Keunggulan Solusi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62050"/>
            <a:ext cx="11029950" cy="5210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519612"/>
            <a:ext cx="11029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1" u="none">
                <a:solidFill>
                  <a:srgbClr val="94A3B8"/>
                </a:solidFill>
                <a:latin typeface="Plus Jakarta Sans"/>
              </a:rPr>
              <a:t>Berdasarkan hasil benchmarking, sistem proteksi data mencapai integritas mutlak 100% dan model AI mencapai akurasi deteksi tajwid sebesar 94% pada kondisi akustik standar.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Tingkat Akurasi &amp; Performa Sistem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28912"/>
            <a:ext cx="5343525" cy="207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050" y="3119437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0" sz="7200" i="0" u="none">
                <a:solidFill>
                  <a:srgbClr val="34D399"/>
                </a:solidFill>
                <a:latin typeface="Plus Jakarta Sans ExtraBold"/>
              </a:rPr>
              <a:t>6.236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050" y="4129087"/>
            <a:ext cx="49434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E2E8F0"/>
                </a:solidFill>
                <a:latin typeface="Plus Jakarta Sans SemiBold"/>
              </a:rPr>
              <a:t>Ayat Terlindungi Penuh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450" y="2819548"/>
            <a:ext cx="561070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Plus Jakarta Sans"/>
              </a:rPr>
              <a:t>Solusi Masa Depan Tahfidz &amp; EdTech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3267223"/>
            <a:ext cx="53435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Bagi Santri &amp; Pelajar: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Memfasilitasi muroja'ah mandiri dengan umpan balik kecerdasan buatan kapan saja dan di mana saja tanpa kendala kuota.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3869084"/>
            <a:ext cx="534352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Bagi Lembaga &amp; Pesantren: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Menjadi instrumen evaluasi hafalan yang terukur, objektif, dan menjadi pelopor standar keamanan data Al-Qur'an digital.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Dampak Nyata &amp; Skalabilitas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62" y="4233862"/>
            <a:ext cx="5095875" cy="428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195512"/>
            <a:ext cx="110299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10B981"/>
                </a:solidFill>
                <a:latin typeface="Amiri"/>
              </a:rPr>
              <a:t>شُكْرًا جَزِيلًا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276" y="2881312"/>
            <a:ext cx="11581447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350" i="0" u="none">
                <a:solidFill>
                  <a:srgbClr val="F8FAFC"/>
                </a:solidFill>
                <a:latin typeface="Plus Jakarta Sans ExtraBold"/>
              </a:rP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690937"/>
            <a:ext cx="110299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Sesi Tanya Jawab &amp; Demonstrasi Langsung Sistem QURANVERSE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914650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36766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6766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575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3064668"/>
            <a:ext cx="99345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https://png.pngtree.com/thumb_back/fw800/background/20250707/pngtree-a-holographic-futuristic-quran-image_17477143.webp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298031"/>
            <a:ext cx="9934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pngtree.com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147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3829050"/>
            <a:ext cx="99345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https://png.pngtree.com/png-vector/20260606/ourlarge/pngtree-digital-shield-with-a-secure-padlock-icon-representing-cybersecurity-and-data-png-image_19457808.webp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248150"/>
            <a:ext cx="9934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pngtree.com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